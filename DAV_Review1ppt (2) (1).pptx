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8" r:id="rId4"/>
    <p:sldId id="261" r:id="rId5"/>
    <p:sldId id="266" r:id="rId6"/>
    <p:sldId id="267" r:id="rId7"/>
    <p:sldId id="268" r:id="rId8"/>
    <p:sldId id="269" r:id="rId9"/>
    <p:sldId id="260" r:id="rId10"/>
    <p:sldId id="265" r:id="rId11"/>
    <p:sldId id="264"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1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8DB6846-2CD3-48A4-A3BF-085B63675F5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2B04D9-0DC9-4451-B849-7116168B5DD4}"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F8DB6846-2CD3-48A4-A3BF-085B63675F5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2B04D9-0DC9-4451-B849-7116168B5DD4}"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F8DB6846-2CD3-48A4-A3BF-085B63675F5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2B04D9-0DC9-4451-B849-7116168B5DD4}"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F8DB6846-2CD3-48A4-A3BF-085B63675F5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2B04D9-0DC9-4451-B849-7116168B5DD4}"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F8DB6846-2CD3-48A4-A3BF-085B63675F5B}"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52B04D9-0DC9-4451-B849-7116168B5DD4}"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8DB6846-2CD3-48A4-A3BF-085B63675F5B}"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52B04D9-0DC9-4451-B849-7116168B5DD4}"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DB6846-2CD3-48A4-A3BF-085B63675F5B}"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52B04D9-0DC9-4451-B849-7116168B5DD4}"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8DB6846-2CD3-48A4-A3BF-085B63675F5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2B04D9-0DC9-4451-B849-7116168B5DD4}"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8DB6846-2CD3-48A4-A3BF-085B63675F5B}"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2B04D9-0DC9-4451-B849-7116168B5DD4}"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F8DB6846-2CD3-48A4-A3BF-085B63675F5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2B04D9-0DC9-4451-B849-7116168B5DD4}"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F8DB6846-2CD3-48A4-A3BF-085B63675F5B}"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2B04D9-0DC9-4451-B849-7116168B5DD4}"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DB6846-2CD3-48A4-A3BF-085B63675F5B}"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2B04D9-0DC9-4451-B849-7116168B5DD4}"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192000" cy="1061884"/>
          </a:xfrm>
        </p:spPr>
        <p:txBody>
          <a:bodyPr/>
          <a:lstStyle/>
          <a:p>
            <a:endParaRPr lang="en-IN" dirty="0"/>
          </a:p>
        </p:txBody>
      </p:sp>
      <p:sp>
        <p:nvSpPr>
          <p:cNvPr id="3" name="Subtitle 2"/>
          <p:cNvSpPr>
            <a:spLocks noGrp="1"/>
          </p:cNvSpPr>
          <p:nvPr>
            <p:ph type="subTitle" idx="1"/>
          </p:nvPr>
        </p:nvSpPr>
        <p:spPr>
          <a:xfrm>
            <a:off x="383457" y="1465006"/>
            <a:ext cx="11464413" cy="5014452"/>
          </a:xfrm>
        </p:spPr>
        <p:txBody>
          <a:bodyPr/>
          <a:lstStyle/>
          <a:p>
            <a:pPr>
              <a:lnSpc>
                <a:spcPct val="100000"/>
              </a:lnSpc>
            </a:pPr>
            <a:r>
              <a:rPr lang="en-IN" sz="2000" b="1" dirty="0">
                <a:latin typeface="Times New Roman" panose="02020603050405020304" pitchFamily="18" charset="0"/>
                <a:cs typeface="Times New Roman" panose="02020603050405020304" pitchFamily="18" charset="0"/>
              </a:rPr>
              <a:t>DATA ANALYTICS AND VISUALIZATION(24DSB3101)</a:t>
            </a:r>
            <a:endParaRPr lang="en-IN" sz="2000" b="1" dirty="0">
              <a:latin typeface="Times New Roman" panose="02020603050405020304" pitchFamily="18" charset="0"/>
              <a:cs typeface="Times New Roman" panose="02020603050405020304" pitchFamily="18" charset="0"/>
            </a:endParaRPr>
          </a:p>
          <a:p>
            <a:pPr>
              <a:lnSpc>
                <a:spcPct val="100000"/>
              </a:lnSpc>
            </a:pPr>
            <a:endParaRPr lang="en-IN" sz="2800" b="1" dirty="0">
              <a:latin typeface="Times New Roman" panose="02020603050405020304" pitchFamily="18" charset="0"/>
              <a:cs typeface="Times New Roman" panose="02020603050405020304" pitchFamily="18" charset="0"/>
            </a:endParaRPr>
          </a:p>
          <a:p>
            <a:pPr>
              <a:lnSpc>
                <a:spcPct val="100000"/>
              </a:lnSpc>
            </a:pPr>
            <a:r>
              <a:rPr lang="en-IN" b="1" dirty="0"/>
              <a:t>Business Intelligence Dashboard for Healthcare Performance Analytics</a:t>
            </a:r>
            <a:endParaRPr lang="en-IN" sz="2800" b="1" dirty="0">
              <a:latin typeface="Times New Roman" panose="02020603050405020304" pitchFamily="18" charset="0"/>
              <a:cs typeface="Times New Roman" panose="02020603050405020304" pitchFamily="18" charset="0"/>
            </a:endParaRPr>
          </a:p>
          <a:p>
            <a:pPr>
              <a:lnSpc>
                <a:spcPct val="100000"/>
              </a:lnSpc>
            </a:pPr>
            <a:r>
              <a:rPr lang="en-IN" dirty="0">
                <a:solidFill>
                  <a:schemeClr val="accent1">
                    <a:lumMod val="50000"/>
                  </a:schemeClr>
                </a:solidFill>
                <a:latin typeface="Times New Roman" panose="02020603050405020304" pitchFamily="18" charset="0"/>
                <a:cs typeface="Times New Roman" panose="02020603050405020304" pitchFamily="18" charset="0"/>
              </a:rPr>
              <a:t>Batch – 3</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a:p>
            <a:pPr algn="l">
              <a:lnSpc>
                <a:spcPct val="100000"/>
              </a:lnSpc>
            </a:pPr>
            <a:r>
              <a:rPr lang="en-IN" dirty="0">
                <a:latin typeface="Times New Roman" panose="02020603050405020304" pitchFamily="18" charset="0"/>
                <a:cs typeface="Times New Roman" panose="02020603050405020304" pitchFamily="18" charset="0"/>
              </a:rPr>
              <a:t>2420030055 - Lahari</a:t>
            </a:r>
            <a:endParaRPr lang="en-IN" dirty="0">
              <a:latin typeface="Times New Roman" panose="02020603050405020304" pitchFamily="18" charset="0"/>
              <a:cs typeface="Times New Roman" panose="02020603050405020304" pitchFamily="18" charset="0"/>
            </a:endParaRPr>
          </a:p>
          <a:p>
            <a:pPr algn="l">
              <a:lnSpc>
                <a:spcPct val="100000"/>
              </a:lnSpc>
            </a:pPr>
            <a:r>
              <a:rPr lang="en-IN" dirty="0">
                <a:latin typeface="Times New Roman" panose="02020603050405020304" pitchFamily="18" charset="0"/>
                <a:cs typeface="Times New Roman" panose="02020603050405020304" pitchFamily="18" charset="0"/>
              </a:rPr>
              <a:t>2420030292- Madhuri</a:t>
            </a:r>
            <a:endParaRPr lang="en-IN" dirty="0">
              <a:latin typeface="Times New Roman" panose="02020603050405020304" pitchFamily="18" charset="0"/>
              <a:cs typeface="Times New Roman" panose="02020603050405020304" pitchFamily="18" charset="0"/>
            </a:endParaRPr>
          </a:p>
          <a:p>
            <a:pPr algn="l">
              <a:lnSpc>
                <a:spcPct val="100000"/>
              </a:lnSpc>
            </a:pPr>
            <a:r>
              <a:rPr lang="en-IN" dirty="0">
                <a:latin typeface="Times New Roman" panose="02020603050405020304" pitchFamily="18" charset="0"/>
                <a:cs typeface="Times New Roman" panose="02020603050405020304" pitchFamily="18" charset="0"/>
              </a:rPr>
              <a:t>2420030323- Harshini</a:t>
            </a:r>
            <a:endParaRPr lang="en-IN" dirty="0">
              <a:latin typeface="Times New Roman" panose="02020603050405020304" pitchFamily="18" charset="0"/>
              <a:cs typeface="Times New Roman" panose="02020603050405020304" pitchFamily="18" charset="0"/>
            </a:endParaRPr>
          </a:p>
          <a:p>
            <a:pPr algn="l">
              <a:lnSpc>
                <a:spcPct val="100000"/>
              </a:lnSpc>
            </a:pPr>
            <a:r>
              <a:rPr lang="en-IN" dirty="0">
                <a:latin typeface="Times New Roman" panose="02020603050405020304" pitchFamily="18" charset="0"/>
                <a:cs typeface="Times New Roman" panose="02020603050405020304" pitchFamily="18" charset="0"/>
              </a:rPr>
              <a:t>2420030671 - Manasa</a:t>
            </a:r>
            <a:endParaRPr lang="en-IN" dirty="0">
              <a:latin typeface="Times New Roman" panose="02020603050405020304" pitchFamily="18" charset="0"/>
              <a:cs typeface="Times New Roman" panose="02020603050405020304" pitchFamily="18" charset="0"/>
            </a:endParaRPr>
          </a:p>
          <a:p>
            <a:endParaRPr lang="en-IN" sz="2800" b="1" dirty="0">
              <a:latin typeface="Times New Roman" panose="02020603050405020304" pitchFamily="18" charset="0"/>
              <a:cs typeface="Times New Roman" panose="02020603050405020304" pitchFamily="18" charset="0"/>
            </a:endParaRPr>
          </a:p>
          <a:p>
            <a:endParaRPr lang="en-IN" sz="2800" b="1" dirty="0">
              <a:latin typeface="Times New Roman" panose="02020603050405020304" pitchFamily="18" charset="0"/>
              <a:cs typeface="Times New Roman" panose="02020603050405020304" pitchFamily="18" charset="0"/>
            </a:endParaRPr>
          </a:p>
          <a:p>
            <a:pPr algn="l"/>
            <a:endParaRPr lang="en-IN" sz="2800" b="1" dirty="0">
              <a:latin typeface="Times New Roman" panose="02020603050405020304" pitchFamily="18" charset="0"/>
              <a:cs typeface="Times New Roman" panose="02020603050405020304" pitchFamily="18" charset="0"/>
            </a:endParaRPr>
          </a:p>
          <a:p>
            <a:endParaRPr lang="en-IN" sz="2800" b="1" dirty="0">
              <a:latin typeface="Times New Roman" panose="02020603050405020304" pitchFamily="18" charset="0"/>
              <a:cs typeface="Times New Roman" panose="02020603050405020304" pitchFamily="18" charset="0"/>
            </a:endParaRPr>
          </a:p>
          <a:p>
            <a:endParaRPr lang="en-IN" dirty="0"/>
          </a:p>
          <a:p>
            <a:endParaRPr lang="en-IN" dirty="0"/>
          </a:p>
        </p:txBody>
      </p:sp>
      <p:pic>
        <p:nvPicPr>
          <p:cNvPr id="4" name="Picture 3"/>
          <p:cNvPicPr>
            <a:picLocks noChangeAspect="1"/>
          </p:cNvPicPr>
          <p:nvPr/>
        </p:nvPicPr>
        <p:blipFill>
          <a:blip r:embed="rId1"/>
          <a:stretch>
            <a:fillRect/>
          </a:stretch>
        </p:blipFill>
        <p:spPr>
          <a:xfrm>
            <a:off x="0" y="1"/>
            <a:ext cx="12192000" cy="120936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192000" cy="1061884"/>
          </a:xfrm>
        </p:spPr>
        <p:txBody>
          <a:bodyPr/>
          <a:lstStyle/>
          <a:p>
            <a:endParaRPr lang="en-IN" dirty="0"/>
          </a:p>
        </p:txBody>
      </p:sp>
      <p:pic>
        <p:nvPicPr>
          <p:cNvPr id="4" name="Picture 3"/>
          <p:cNvPicPr>
            <a:picLocks noChangeAspect="1"/>
          </p:cNvPicPr>
          <p:nvPr/>
        </p:nvPicPr>
        <p:blipFill>
          <a:blip r:embed="rId1"/>
          <a:stretch>
            <a:fillRect/>
          </a:stretch>
        </p:blipFill>
        <p:spPr>
          <a:xfrm>
            <a:off x="0" y="1"/>
            <a:ext cx="12192000" cy="1209367"/>
          </a:xfrm>
          <a:prstGeom prst="rect">
            <a:avLst/>
          </a:prstGeom>
        </p:spPr>
      </p:pic>
      <p:sp>
        <p:nvSpPr>
          <p:cNvPr id="7" name="TextBox 6"/>
          <p:cNvSpPr txBox="1"/>
          <p:nvPr/>
        </p:nvSpPr>
        <p:spPr>
          <a:xfrm>
            <a:off x="275303" y="1445342"/>
            <a:ext cx="11621729" cy="3169285"/>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Problem Statement:</a:t>
            </a:r>
            <a:endParaRPr lang="en-IN" sz="2000" b="1" dirty="0">
              <a:latin typeface="Times New Roman" panose="02020603050405020304" pitchFamily="18" charset="0"/>
              <a:cs typeface="Times New Roman" panose="02020603050405020304" pitchFamily="18" charset="0"/>
            </a:endParaRPr>
          </a:p>
          <a:p>
            <a:endParaRPr lang="en-IN" sz="2000" b="1" dirty="0">
              <a:cs typeface="+mn-lt"/>
            </a:endParaRPr>
          </a:p>
          <a:p>
            <a:r>
              <a:rPr lang="en-US" altLang="en-US" sz="2000" dirty="0">
                <a:cs typeface="+mn-lt"/>
              </a:rPr>
              <a:t>Healthcare organizations generate large amounts of patient, demographic, lifestyle, clinical, treatment, and healthcare-cost data, but this data is often difficult to analyze and use for effective decision-making. Machine learning models can help predict disease risk, but complex models can be difficult to understand and interpret. Different machine learning models may also provide different levels of accuracy and transparency. Therefore, this project aims to comparatively analyze multiple machine learning models using SHAP and LIME to evaluate their predictive performance and explainability on benchmark healthcare datasets. The project also aims to present the results through an interactive Business Intelligence Dashboard to provide clear and understandable healthcare insights.</a:t>
            </a:r>
            <a:endParaRPr lang="en-US" altLang="en-US" sz="2000" dirty="0">
              <a:cs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192000" cy="1061884"/>
          </a:xfrm>
        </p:spPr>
        <p:txBody>
          <a:bodyPr/>
          <a:lstStyle/>
          <a:p>
            <a:endParaRPr lang="en-IN" dirty="0"/>
          </a:p>
        </p:txBody>
      </p:sp>
      <p:pic>
        <p:nvPicPr>
          <p:cNvPr id="4" name="Picture 3"/>
          <p:cNvPicPr>
            <a:picLocks noChangeAspect="1"/>
          </p:cNvPicPr>
          <p:nvPr/>
        </p:nvPicPr>
        <p:blipFill>
          <a:blip r:embed="rId1"/>
          <a:stretch>
            <a:fillRect/>
          </a:stretch>
        </p:blipFill>
        <p:spPr>
          <a:xfrm>
            <a:off x="0" y="1"/>
            <a:ext cx="12192000" cy="1209367"/>
          </a:xfrm>
          <a:prstGeom prst="rect">
            <a:avLst/>
          </a:prstGeom>
        </p:spPr>
      </p:pic>
      <p:sp>
        <p:nvSpPr>
          <p:cNvPr id="7" name="TextBox 6"/>
          <p:cNvSpPr txBox="1"/>
          <p:nvPr/>
        </p:nvSpPr>
        <p:spPr>
          <a:xfrm>
            <a:off x="275303" y="1445342"/>
            <a:ext cx="11621729" cy="4092575"/>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Project Objectives:</a:t>
            </a:r>
            <a:endParaRPr lang="en-IN"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pPr lvl="0"/>
            <a:r>
              <a:rPr lang="en-US" altLang="en-US" sz="2000" b="1" dirty="0">
                <a:latin typeface="Times New Roman" panose="02020603050405020304" pitchFamily="18" charset="0"/>
                <a:cs typeface="Times New Roman" panose="02020603050405020304" pitchFamily="18" charset="0"/>
              </a:rPr>
              <a:t>• To develop</a:t>
            </a:r>
            <a:r>
              <a:rPr lang="en-US" altLang="en-US" sz="2000" dirty="0">
                <a:latin typeface="Times New Roman" panose="02020603050405020304" pitchFamily="18" charset="0"/>
                <a:cs typeface="Times New Roman" panose="02020603050405020304" pitchFamily="18" charset="0"/>
              </a:rPr>
              <a:t> machine learning models for analyzing and predicting</a:t>
            </a:r>
            <a:endParaRPr lang="en-US" altLang="en-US" sz="2000" dirty="0">
              <a:latin typeface="Times New Roman" panose="02020603050405020304" pitchFamily="18" charset="0"/>
              <a:cs typeface="Times New Roman" panose="02020603050405020304" pitchFamily="18" charset="0"/>
            </a:endParaRPr>
          </a:p>
          <a:p>
            <a:pPr lvl="0"/>
            <a:r>
              <a:rPr lang="en-US" altLang="en-US" sz="2000" dirty="0">
                <a:latin typeface="Times New Roman" panose="02020603050405020304" pitchFamily="18" charset="0"/>
                <a:cs typeface="Times New Roman" panose="02020603050405020304" pitchFamily="18" charset="0"/>
              </a:rPr>
              <a:t>  disease risk using benchmark healthcare datasets.</a:t>
            </a:r>
            <a:endParaRPr lang="en-US" altLang="en-US" sz="2000" dirty="0">
              <a:latin typeface="Times New Roman" panose="02020603050405020304" pitchFamily="18" charset="0"/>
              <a:cs typeface="Times New Roman" panose="02020603050405020304" pitchFamily="18" charset="0"/>
            </a:endParaRPr>
          </a:p>
          <a:p>
            <a:pPr lvl="0"/>
            <a:endParaRPr lang="en-US" altLang="en-US" sz="2000" b="1" dirty="0">
              <a:latin typeface="Times New Roman" panose="02020603050405020304" pitchFamily="18" charset="0"/>
              <a:cs typeface="Times New Roman" panose="02020603050405020304" pitchFamily="18" charset="0"/>
            </a:endParaRPr>
          </a:p>
          <a:p>
            <a:pPr lvl="0"/>
            <a:r>
              <a:rPr lang="en-US" altLang="en-US" sz="2000" b="1" dirty="0">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To integrate</a:t>
            </a:r>
            <a:r>
              <a:rPr lang="en-US" altLang="en-US" sz="2000" dirty="0">
                <a:latin typeface="Times New Roman" panose="02020603050405020304" pitchFamily="18" charset="0"/>
                <a:cs typeface="Times New Roman" panose="02020603050405020304" pitchFamily="18" charset="0"/>
              </a:rPr>
              <a:t> SHAP and LIME techniques to provide clear and</a:t>
            </a:r>
            <a:endParaRPr lang="en-US" altLang="en-US" sz="2000" dirty="0">
              <a:latin typeface="Times New Roman" panose="02020603050405020304" pitchFamily="18" charset="0"/>
              <a:cs typeface="Times New Roman" panose="02020603050405020304" pitchFamily="18" charset="0"/>
            </a:endParaRPr>
          </a:p>
          <a:p>
            <a:pPr lvl="0"/>
            <a:r>
              <a:rPr lang="en-US" altLang="en-US" sz="2000" dirty="0">
                <a:latin typeface="Times New Roman" panose="02020603050405020304" pitchFamily="18" charset="0"/>
                <a:cs typeface="Times New Roman" panose="02020603050405020304" pitchFamily="18" charset="0"/>
              </a:rPr>
              <a:t>  meaningful explanations of healthcare predictions.</a:t>
            </a:r>
            <a:endParaRPr lang="en-US" altLang="en-US" sz="2000" dirty="0">
              <a:latin typeface="Times New Roman" panose="02020603050405020304" pitchFamily="18" charset="0"/>
              <a:cs typeface="Times New Roman" panose="02020603050405020304" pitchFamily="18" charset="0"/>
            </a:endParaRPr>
          </a:p>
          <a:p>
            <a:pPr lvl="0"/>
            <a:endParaRPr lang="en-US" altLang="en-US" sz="2000" b="1" dirty="0">
              <a:latin typeface="Times New Roman" panose="02020603050405020304" pitchFamily="18" charset="0"/>
              <a:cs typeface="Times New Roman" panose="02020603050405020304" pitchFamily="18" charset="0"/>
            </a:endParaRPr>
          </a:p>
          <a:p>
            <a:pPr lvl="0"/>
            <a:r>
              <a:rPr lang="en-US" altLang="en-US" sz="2000" b="1" dirty="0">
                <a:latin typeface="Times New Roman" panose="02020603050405020304" pitchFamily="18" charset="0"/>
                <a:cs typeface="Times New Roman" panose="02020603050405020304" pitchFamily="18" charset="0"/>
              </a:rPr>
              <a:t>•</a:t>
            </a:r>
            <a:r>
              <a:rPr lang="en-US" altLang="en-US" sz="2000" b="1" dirty="0">
                <a:latin typeface="Times New Roman" panose="02020603050405020304" pitchFamily="18" charset="0"/>
                <a:cs typeface="Times New Roman" panose="02020603050405020304" pitchFamily="18" charset="0"/>
              </a:rPr>
              <a:t> To identify</a:t>
            </a:r>
            <a:r>
              <a:rPr lang="en-US" altLang="en-US" sz="2000" dirty="0">
                <a:latin typeface="Times New Roman" panose="02020603050405020304" pitchFamily="18" charset="0"/>
                <a:cs typeface="Times New Roman" panose="02020603050405020304" pitchFamily="18" charset="0"/>
              </a:rPr>
              <a:t> important lifestyle, demographic, and medical factors</a:t>
            </a:r>
            <a:endParaRPr lang="en-US" altLang="en-US" sz="2000" dirty="0">
              <a:latin typeface="Times New Roman" panose="02020603050405020304" pitchFamily="18" charset="0"/>
              <a:cs typeface="Times New Roman" panose="02020603050405020304" pitchFamily="18" charset="0"/>
            </a:endParaRPr>
          </a:p>
          <a:p>
            <a:pPr lvl="0"/>
            <a:r>
              <a:rPr lang="en-US" altLang="en-US" sz="2000" dirty="0">
                <a:latin typeface="Times New Roman" panose="02020603050405020304" pitchFamily="18" charset="0"/>
                <a:cs typeface="Times New Roman" panose="02020603050405020304" pitchFamily="18" charset="0"/>
              </a:rPr>
              <a:t>  that influence disease risk</a:t>
            </a:r>
            <a:r>
              <a:rPr lang="en-US" altLang="en-US" sz="2000" b="1" dirty="0">
                <a:latin typeface="Times New Roman" panose="02020603050405020304" pitchFamily="18" charset="0"/>
                <a:cs typeface="Times New Roman" panose="02020603050405020304" pitchFamily="18" charset="0"/>
              </a:rPr>
              <a:t>.</a:t>
            </a:r>
            <a:endParaRPr lang="en-US" altLang="en-US" sz="2000" b="1" dirty="0">
              <a:latin typeface="Times New Roman" panose="02020603050405020304" pitchFamily="18" charset="0"/>
              <a:cs typeface="Times New Roman" panose="02020603050405020304" pitchFamily="18" charset="0"/>
            </a:endParaRPr>
          </a:p>
          <a:p>
            <a:pPr lvl="0"/>
            <a:endParaRPr lang="en-US" altLang="en-US" sz="2000" b="1" dirty="0">
              <a:latin typeface="Times New Roman" panose="02020603050405020304" pitchFamily="18" charset="0"/>
              <a:cs typeface="Times New Roman" panose="02020603050405020304" pitchFamily="18" charset="0"/>
            </a:endParaRPr>
          </a:p>
          <a:p>
            <a:pPr lvl="0"/>
            <a:r>
              <a:rPr lang="en-US" altLang="en-US" sz="2000" b="1" dirty="0">
                <a:latin typeface="Times New Roman" panose="02020603050405020304" pitchFamily="18" charset="0"/>
                <a:cs typeface="Times New Roman" panose="02020603050405020304" pitchFamily="18" charset="0"/>
              </a:rPr>
              <a:t>• To evaluate</a:t>
            </a:r>
            <a:r>
              <a:rPr lang="en-US" altLang="en-US" sz="2000" dirty="0">
                <a:latin typeface="Times New Roman" panose="02020603050405020304" pitchFamily="18" charset="0"/>
                <a:cs typeface="Times New Roman" panose="02020603050405020304" pitchFamily="18" charset="0"/>
              </a:rPr>
              <a:t> and compare model performance and explainability</a:t>
            </a:r>
            <a:endParaRPr lang="en-US" altLang="en-US" sz="2000" dirty="0">
              <a:latin typeface="Times New Roman" panose="02020603050405020304" pitchFamily="18" charset="0"/>
              <a:cs typeface="Times New Roman" panose="02020603050405020304" pitchFamily="18" charset="0"/>
            </a:endParaRPr>
          </a:p>
          <a:p>
            <a:pPr lvl="0"/>
            <a:r>
              <a:rPr lang="en-US" altLang="en-US" sz="2000" dirty="0">
                <a:latin typeface="Times New Roman" panose="02020603050405020304" pitchFamily="18" charset="0"/>
                <a:cs typeface="Times New Roman" panose="02020603050405020304" pitchFamily="18" charset="0"/>
              </a:rPr>
              <a:t>  to identify the most effective approach.</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192000" cy="1061884"/>
          </a:xfrm>
        </p:spPr>
        <p:txBody>
          <a:bodyPr/>
          <a:lstStyle/>
          <a:p>
            <a:endParaRPr lang="en-IN" dirty="0"/>
          </a:p>
        </p:txBody>
      </p:sp>
      <p:pic>
        <p:nvPicPr>
          <p:cNvPr id="4" name="Picture 3"/>
          <p:cNvPicPr>
            <a:picLocks noChangeAspect="1"/>
          </p:cNvPicPr>
          <p:nvPr/>
        </p:nvPicPr>
        <p:blipFill>
          <a:blip r:embed="rId1"/>
          <a:stretch>
            <a:fillRect/>
          </a:stretch>
        </p:blipFill>
        <p:spPr>
          <a:xfrm>
            <a:off x="0" y="1"/>
            <a:ext cx="12192000" cy="1209367"/>
          </a:xfrm>
          <a:prstGeom prst="rect">
            <a:avLst/>
          </a:prstGeom>
        </p:spPr>
      </p:pic>
      <p:sp>
        <p:nvSpPr>
          <p:cNvPr id="3" name="Text Box 2"/>
          <p:cNvSpPr txBox="1"/>
          <p:nvPr/>
        </p:nvSpPr>
        <p:spPr>
          <a:xfrm>
            <a:off x="581660" y="1435100"/>
            <a:ext cx="10126345" cy="4092575"/>
          </a:xfrm>
          <a:prstGeom prst="rect">
            <a:avLst/>
          </a:prstGeom>
          <a:noFill/>
        </p:spPr>
        <p:txBody>
          <a:bodyPr wrap="square" rtlCol="0">
            <a:spAutoFit/>
          </a:bodyPr>
          <a:p>
            <a:r>
              <a:rPr lang="en-US" altLang="en-US" sz="2000"/>
              <a:t>I recommend using three benchmark datasets together: </a:t>
            </a:r>
            <a:endParaRPr lang="en-US" altLang="en-US" sz="2000"/>
          </a:p>
          <a:p>
            <a:endParaRPr lang="en-US" altLang="en-US" sz="2000"/>
          </a:p>
          <a:p>
            <a:r>
              <a:rPr lang="en-US" altLang="en-US" sz="2000"/>
              <a:t>1.CDC Diabetes Health Indicators (UCI): (demographic, lifestyle, and health indicator data for diabetes risk prediction)</a:t>
            </a:r>
            <a:endParaRPr lang="en-US" altLang="en-US" sz="2000"/>
          </a:p>
          <a:p>
            <a:r>
              <a:rPr lang="en-US" altLang="en-US" sz="2000"/>
              <a:t>https://archive.ics.uci.edu/dataset/544/estimation+of+obesity+levels+based+on+eating+habits+and+physical+condition</a:t>
            </a:r>
            <a:endParaRPr lang="en-US" altLang="en-US" sz="2000"/>
          </a:p>
          <a:p>
            <a:r>
              <a:rPr lang="en-US" altLang="en-US" sz="2000"/>
              <a:t>2.Hospital Patient Data Records Dataset (hospital patient demographics, treatment, admission, discharge, and healthcare analytics data)</a:t>
            </a:r>
            <a:endParaRPr lang="en-US" altLang="en-US" sz="2000"/>
          </a:p>
          <a:p>
            <a:r>
              <a:rPr lang="en-US" altLang="en-US" sz="2000"/>
              <a:t>https://www.kaggle.com/datasets/sathwiknomula/hospital-patient-records-dataset?utm_source=chatgpt.com</a:t>
            </a:r>
            <a:endParaRPr lang="en-US" altLang="en-US" sz="2000"/>
          </a:p>
          <a:p>
            <a:r>
              <a:rPr lang="en-US" altLang="en-US" sz="2000"/>
              <a:t>3.Health care dataset (patient medical, treatment, and healthcare cost data for healthcareanalysis)</a:t>
            </a:r>
            <a:endParaRPr lang="en-US" altLang="en-US" sz="2000"/>
          </a:p>
          <a:p>
            <a:r>
              <a:rPr lang="en-US" altLang="en-US" sz="2000"/>
              <a:t>https://www.kaggle.com/datasets?search=health </a:t>
            </a:r>
            <a:r>
              <a:rPr lang="en-US" altLang="en-US"/>
              <a:t>   </a:t>
            </a: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77800"/>
            <a:ext cx="10515600" cy="1031875"/>
          </a:xfrm>
        </p:spPr>
        <p:txBody>
          <a:bodyPr/>
          <a:p>
            <a:endParaRPr lang="en-US" sz="3200" b="1"/>
          </a:p>
        </p:txBody>
      </p:sp>
      <p:sp>
        <p:nvSpPr>
          <p:cNvPr id="3" name="Content Placeholder 2"/>
          <p:cNvSpPr>
            <a:spLocks noGrp="1"/>
          </p:cNvSpPr>
          <p:nvPr>
            <p:ph idx="1"/>
          </p:nvPr>
        </p:nvSpPr>
        <p:spPr>
          <a:xfrm>
            <a:off x="1137920" y="2116455"/>
            <a:ext cx="10431145" cy="4351655"/>
          </a:xfrm>
        </p:spPr>
        <p:txBody>
          <a:bodyPr>
            <a:noAutofit/>
          </a:bodyPr>
          <a:p>
            <a:pPr marL="0" indent="0">
              <a:buNone/>
            </a:pPr>
            <a:r>
              <a:rPr lang="en-US" altLang="en-US" sz="2000"/>
              <a:t>• Preprocessing: data cleaning → missing-value handling → duplicate</a:t>
            </a:r>
            <a:endParaRPr lang="en-US" altLang="en-US" sz="2000"/>
          </a:p>
          <a:p>
            <a:pPr marL="0" indent="0">
              <a:buNone/>
            </a:pPr>
            <a:r>
              <a:rPr lang="en-US" altLang="en-US" sz="2000"/>
              <a:t>  removal → encoding → scaling/normalization → train-test split.</a:t>
            </a:r>
            <a:endParaRPr lang="en-US" altLang="en-US" sz="2000"/>
          </a:p>
          <a:p>
            <a:endParaRPr lang="en-US" altLang="en-US" sz="2000"/>
          </a:p>
          <a:p>
            <a:pPr marL="0" indent="0">
              <a:buNone/>
            </a:pPr>
            <a:r>
              <a:rPr lang="en-US" altLang="en-US" sz="2000"/>
              <a:t>• ML Models: Logistic Regression, Decision Tree, Random Forest, XGBoost</a:t>
            </a:r>
            <a:endParaRPr lang="en-US" altLang="en-US" sz="2000"/>
          </a:p>
          <a:p>
            <a:pPr marL="0" indent="0">
              <a:buNone/>
            </a:pPr>
            <a:r>
              <a:rPr lang="en-US" altLang="en-US" sz="2000"/>
              <a:t>  and CatBoost for disease-risk prediction and healthcare analysis.</a:t>
            </a:r>
            <a:endParaRPr lang="en-US" altLang="en-US" sz="2000"/>
          </a:p>
          <a:p>
            <a:endParaRPr lang="en-US" altLang="en-US" sz="2000"/>
          </a:p>
          <a:p>
            <a:pPr marL="0" indent="0">
              <a:buNone/>
            </a:pPr>
            <a:r>
              <a:rPr lang="en-US" altLang="en-US" sz="2000"/>
              <a:t>• Explainability: SHAP and LIME to understand model predictions and</a:t>
            </a:r>
            <a:endParaRPr lang="en-US" altLang="en-US" sz="2000"/>
          </a:p>
          <a:p>
            <a:pPr marL="0" indent="0">
              <a:buNone/>
            </a:pPr>
            <a:r>
              <a:rPr lang="en-US" altLang="en-US" sz="2000"/>
              <a:t>  identify important healthcare and lifestyle factors.</a:t>
            </a:r>
            <a:endParaRPr lang="en-US" altLang="en-US" sz="2000"/>
          </a:p>
          <a:p>
            <a:endParaRPr lang="en-US" altLang="en-US" sz="2000"/>
          </a:p>
          <a:p>
            <a:pPr marL="0" indent="0">
              <a:buNone/>
            </a:pPr>
            <a:r>
              <a:rPr lang="en-US" altLang="en-US" sz="2000"/>
              <a:t>• Visualization: heatmaps, boxplots, correlation matrix, feature-</a:t>
            </a:r>
            <a:endParaRPr lang="en-US" altLang="en-US" sz="2000"/>
          </a:p>
          <a:p>
            <a:pPr marL="0" indent="0">
              <a:buNone/>
            </a:pPr>
            <a:r>
              <a:rPr lang="en-US" altLang="en-US" sz="2000"/>
              <a:t>  importance graphs, SHAP/LIME visualizations and an interactive</a:t>
            </a:r>
            <a:endParaRPr lang="en-US" altLang="en-US" sz="2000"/>
          </a:p>
          <a:p>
            <a:pPr marL="0" indent="0">
              <a:buNone/>
            </a:pPr>
            <a:r>
              <a:rPr lang="en-US" altLang="en-US" sz="2000"/>
              <a:t>  healthcare dashboard.</a:t>
            </a:r>
            <a:endParaRPr lang="en-US" altLang="en-US" sz="2000"/>
          </a:p>
        </p:txBody>
      </p:sp>
      <p:pic>
        <p:nvPicPr>
          <p:cNvPr id="4" name="Picture 3"/>
          <p:cNvPicPr>
            <a:picLocks noChangeAspect="1"/>
          </p:cNvPicPr>
          <p:nvPr/>
        </p:nvPicPr>
        <p:blipFill>
          <a:blip r:embed="rId1"/>
          <a:stretch>
            <a:fillRect/>
          </a:stretch>
        </p:blipFill>
        <p:spPr>
          <a:xfrm>
            <a:off x="0" y="1"/>
            <a:ext cx="12192000" cy="1209367"/>
          </a:xfrm>
          <a:prstGeom prst="rect">
            <a:avLst/>
          </a:prstGeom>
        </p:spPr>
      </p:pic>
      <p:sp>
        <p:nvSpPr>
          <p:cNvPr id="6" name="Text Box 5"/>
          <p:cNvSpPr txBox="1"/>
          <p:nvPr/>
        </p:nvSpPr>
        <p:spPr>
          <a:xfrm>
            <a:off x="1137920" y="1387475"/>
            <a:ext cx="9892665" cy="898525"/>
          </a:xfrm>
          <a:prstGeom prst="rect">
            <a:avLst/>
          </a:prstGeom>
          <a:noFill/>
        </p:spPr>
        <p:txBody>
          <a:bodyPr wrap="square" rtlCol="0">
            <a:noAutofit/>
          </a:bodyPr>
          <a:p>
            <a:r>
              <a:rPr sz="3200" b="1" dirty="0">
                <a:sym typeface="+mn-ea"/>
              </a:rPr>
              <a:t>Machine Learning &amp; Explainability Framework</a:t>
            </a:r>
            <a:endParaRPr sz="3200" b="1" dirty="0"/>
          </a:p>
          <a:p>
            <a:endParaRPr lang="en-US" sz="3200"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Content Placeholder 3"/>
          <p:cNvGraphicFramePr/>
          <p:nvPr>
            <p:ph idx="1"/>
          </p:nvPr>
        </p:nvGraphicFramePr>
        <p:xfrm>
          <a:off x="106680" y="729615"/>
          <a:ext cx="11701145" cy="6040755"/>
        </p:xfrm>
        <a:graphic>
          <a:graphicData uri="http://schemas.openxmlformats.org/drawingml/2006/table">
            <a:tbl>
              <a:tblPr firstRow="1" bandRow="1">
                <a:tableStyleId>{5C22544A-7EE6-4342-B048-85BDC9FD1C3A}</a:tableStyleId>
              </a:tblPr>
              <a:tblGrid>
                <a:gridCol w="3014345"/>
                <a:gridCol w="2686050"/>
                <a:gridCol w="2368550"/>
                <a:gridCol w="3632200"/>
              </a:tblGrid>
              <a:tr h="640080">
                <a:tc>
                  <a:txBody>
                    <a:bodyPr/>
                    <a:p>
                      <a:pPr>
                        <a:buNone/>
                      </a:pPr>
                      <a:r>
                        <a:rPr lang="en-US" altLang="en-US"/>
                        <a:t>PAPER</a:t>
                      </a:r>
                      <a:endParaRPr lang="en-US" altLang="en-US"/>
                    </a:p>
                  </a:txBody>
                  <a:tcPr/>
                </a:tc>
                <a:tc>
                  <a:txBody>
                    <a:bodyPr/>
                    <a:p>
                      <a:pPr>
                        <a:buNone/>
                      </a:pPr>
                      <a:r>
                        <a:rPr lang="en-US" sz="1800">
                          <a:sym typeface="+mn-ea"/>
                        </a:rPr>
                        <a:t>Publication</a:t>
                      </a:r>
                      <a:endParaRPr lang="en-US" sz="1800"/>
                    </a:p>
                    <a:p>
                      <a:pPr>
                        <a:buNone/>
                      </a:pPr>
                      <a:endParaRPr lang="en-US"/>
                    </a:p>
                  </a:txBody>
                  <a:tcPr/>
                </a:tc>
                <a:tc>
                  <a:txBody>
                    <a:bodyPr/>
                    <a:p>
                      <a:pPr>
                        <a:buNone/>
                      </a:pPr>
                      <a:r>
                        <a:rPr sz="1800" dirty="0">
                          <a:sym typeface="+mn-ea"/>
                        </a:rPr>
                        <a:t>Key Contribution</a:t>
                      </a:r>
                      <a:endParaRPr sz="1800" dirty="0"/>
                    </a:p>
                    <a:p>
                      <a:pPr>
                        <a:buNone/>
                      </a:pPr>
                      <a:endParaRPr lang="en-US"/>
                    </a:p>
                  </a:txBody>
                  <a:tcPr/>
                </a:tc>
                <a:tc>
                  <a:txBody>
                    <a:bodyPr/>
                    <a:p>
                      <a:pPr>
                        <a:buNone/>
                      </a:pPr>
                      <a:r>
                        <a:rPr lang="en-US"/>
                        <a:t>limitations</a:t>
                      </a:r>
                      <a:endParaRPr lang="en-US"/>
                    </a:p>
                  </a:txBody>
                  <a:tcPr/>
                </a:tc>
              </a:tr>
              <a:tr h="1148080">
                <a:tc>
                  <a:txBody>
                    <a:bodyPr/>
                    <a:p>
                      <a:pPr>
                        <a:buNone/>
                      </a:pPr>
                      <a:r>
                        <a:rPr lang="en-US" altLang="en-US" sz="1500"/>
                        <a:t>XAI-HD: Explainable AI for Heart Disease Detection(2025)</a:t>
                      </a:r>
                      <a:endParaRPr lang="en-US" altLang="en-US" sz="1500"/>
                    </a:p>
                  </a:txBody>
                  <a:tcPr/>
                </a:tc>
                <a:tc>
                  <a:txBody>
                    <a:bodyPr/>
                    <a:p>
                      <a:pPr>
                        <a:buNone/>
                      </a:pPr>
                      <a:r>
                        <a:rPr lang="en-US" altLang="en-US" sz="1500">
                          <a:sym typeface="+mn-ea"/>
                        </a:rPr>
                        <a:t>Springer – Artificial Intelligence Review</a:t>
                      </a:r>
                      <a:endParaRPr lang="en-US" sz="1500"/>
                    </a:p>
                    <a:p>
                      <a:pPr>
                        <a:buNone/>
                      </a:pPr>
                      <a:endParaRPr lang="en-US" sz="1500"/>
                    </a:p>
                  </a:txBody>
                  <a:tcPr/>
                </a:tc>
                <a:tc>
                  <a:txBody>
                    <a:bodyPr/>
                    <a:p>
                      <a:pPr>
                        <a:buNone/>
                      </a:pPr>
                      <a:r>
                        <a:rPr lang="en-US" altLang="en-US" sz="1500">
                          <a:sym typeface="+mn-ea"/>
                        </a:rPr>
                        <a:t>Uses ML, SHAP and LIME for heart-disease prediction and interpretability.</a:t>
                      </a:r>
                      <a:endParaRPr lang="en-US" altLang="en-US" sz="1500"/>
                    </a:p>
                    <a:p>
                      <a:pPr>
                        <a:buNone/>
                      </a:pPr>
                      <a:endParaRPr lang="en-US" altLang="en-US" sz="1100"/>
                    </a:p>
                    <a:p>
                      <a:endParaRPr sz="1100"/>
                    </a:p>
                  </a:txBody>
                  <a:tcPr marL="0" marR="0" marT="0" marB="0" anchor="ctr" anchorCtr="0"/>
                </a:tc>
                <a:tc>
                  <a:txBody>
                    <a:bodyPr/>
                    <a:p>
                      <a:pPr>
                        <a:buNone/>
                      </a:pPr>
                      <a:r>
                        <a:rPr lang="en-US" altLang="en-US" sz="1500">
                          <a:sym typeface="+mn-ea"/>
                        </a:rPr>
                        <a:t>The model was evaluated on limited datasets.</a:t>
                      </a:r>
                      <a:endParaRPr lang="en-US" altLang="en-US" sz="1500"/>
                    </a:p>
                    <a:p>
                      <a:pPr>
                        <a:buNone/>
                      </a:pPr>
                      <a:r>
                        <a:rPr lang="en-US" altLang="en-US" sz="1500">
                          <a:sym typeface="+mn-ea"/>
                        </a:rPr>
                        <a:t>Generalization to other healthcare settings needs further study.</a:t>
                      </a:r>
                      <a:endParaRPr lang="en-US" altLang="en-US" sz="1500"/>
                    </a:p>
                    <a:p>
                      <a:pPr>
                        <a:buNone/>
                      </a:pPr>
                      <a:endParaRPr lang="en-US" altLang="en-US" sz="1500"/>
                    </a:p>
                  </a:txBody>
                  <a:tcPr/>
                </a:tc>
              </a:tr>
              <a:tr h="1005840">
                <a:tc>
                  <a:txBody>
                    <a:bodyPr/>
                    <a:p>
                      <a:pPr>
                        <a:buNone/>
                      </a:pPr>
                      <a:r>
                        <a:rPr lang="en-US" altLang="en-US" sz="1500"/>
                        <a:t>Fostering Trust and Interpretability using XAI(2025)</a:t>
                      </a:r>
                      <a:endParaRPr lang="en-US" altLang="en-US" sz="1500"/>
                    </a:p>
                  </a:txBody>
                  <a:tcPr/>
                </a:tc>
                <a:tc>
                  <a:txBody>
                    <a:bodyPr/>
                    <a:p>
                      <a:pPr>
                        <a:buNone/>
                      </a:pPr>
                      <a:r>
                        <a:rPr lang="en-US" altLang="en-US" sz="1500">
                          <a:sym typeface="+mn-ea"/>
                        </a:rPr>
                        <a:t>Springer – Diagnostic Pathology</a:t>
                      </a:r>
                      <a:endParaRPr lang="en-US" altLang="en-US" sz="1500"/>
                    </a:p>
                    <a:p>
                      <a:pPr>
                        <a:buNone/>
                      </a:pPr>
                      <a:endParaRPr lang="en-US" altLang="en-US" sz="1500"/>
                    </a:p>
                  </a:txBody>
                  <a:tcPr/>
                </a:tc>
                <a:tc>
                  <a:txBody>
                    <a:bodyPr/>
                    <a:p>
                      <a:pPr>
                        <a:buNone/>
                      </a:pPr>
                      <a:r>
                        <a:rPr lang="en-US" altLang="en-US" sz="1500"/>
                        <a:t>Combines ML, SHAP and LIME for disease prediction.</a:t>
                      </a:r>
                      <a:endParaRPr lang="en-US" altLang="en-US" sz="1500"/>
                    </a:p>
                  </a:txBody>
                  <a:tcPr/>
                </a:tc>
                <a:tc>
                  <a:txBody>
                    <a:bodyPr/>
                    <a:p>
                      <a:pPr>
                        <a:buNone/>
                      </a:pPr>
                      <a:r>
                        <a:rPr lang="en-US" altLang="en-US" sz="1500">
                          <a:sym typeface="+mn-ea"/>
                        </a:rPr>
                        <a:t>The study depends on available healthcare datasets.</a:t>
                      </a:r>
                      <a:endParaRPr lang="en-US" altLang="en-US" sz="1500"/>
                    </a:p>
                    <a:p>
                      <a:pPr>
                        <a:buNone/>
                      </a:pPr>
                      <a:r>
                        <a:rPr lang="en-US" altLang="en-US" sz="1500">
                          <a:sym typeface="+mn-ea"/>
                        </a:rPr>
                        <a:t>Larger and diverse datasets may improve reliability.</a:t>
                      </a:r>
                      <a:endParaRPr lang="en-US" altLang="en-US" sz="1500"/>
                    </a:p>
                  </a:txBody>
                  <a:tcPr/>
                </a:tc>
              </a:tr>
              <a:tr h="1005840">
                <a:tc>
                  <a:txBody>
                    <a:bodyPr/>
                    <a:p>
                      <a:pPr>
                        <a:buNone/>
                      </a:pPr>
                      <a:r>
                        <a:rPr lang="en-US" altLang="en-US" sz="1500" b="0"/>
                        <a:t>XAI in Disease Prediction: Systematic Review(2025)</a:t>
                      </a:r>
                      <a:endParaRPr lang="en-US" altLang="en-US" sz="1500" b="0"/>
                    </a:p>
                  </a:txBody>
                  <a:tcPr/>
                </a:tc>
                <a:tc>
                  <a:txBody>
                    <a:bodyPr/>
                    <a:p>
                      <a:pPr>
                        <a:buNone/>
                      </a:pPr>
                      <a:r>
                        <a:rPr lang="en-US" altLang="en-US" sz="1500">
                          <a:sym typeface="+mn-ea"/>
                        </a:rPr>
                        <a:t>Springer – BMC Medical Informatics and Decision Making</a:t>
                      </a:r>
                      <a:endParaRPr lang="en-US" altLang="en-US" sz="1500"/>
                    </a:p>
                    <a:p>
                      <a:pPr>
                        <a:buNone/>
                      </a:pPr>
                      <a:endParaRPr lang="en-US" altLang="en-US" sz="1500"/>
                    </a:p>
                  </a:txBody>
                  <a:tcPr/>
                </a:tc>
                <a:tc>
                  <a:txBody>
                    <a:bodyPr/>
                    <a:p>
                      <a:r>
                        <a:rPr lang="en-US" altLang="en-US" sz="1500"/>
                        <a:t>Reviews SHAP, LIME and XAI methods.</a:t>
                      </a:r>
                      <a:endParaRPr lang="en-US" altLang="en-US" sz="1500"/>
                    </a:p>
                  </a:txBody>
                  <a:tcPr marL="0" marR="0" marT="0" marB="0" anchor="ctr" anchorCtr="0"/>
                </a:tc>
                <a:tc>
                  <a:txBody>
                    <a:bodyPr/>
                    <a:p>
                      <a:pPr>
                        <a:buNone/>
                      </a:pPr>
                      <a:r>
                        <a:rPr lang="en-US" altLang="en-US" sz="1500">
                          <a:sym typeface="+mn-ea"/>
                        </a:rPr>
                        <a:t>Existing studies use different datasets and methods.</a:t>
                      </a:r>
                      <a:endParaRPr lang="en-US" altLang="en-US" sz="1500"/>
                    </a:p>
                    <a:p>
                      <a:pPr>
                        <a:buNone/>
                      </a:pPr>
                      <a:r>
                        <a:rPr lang="en-US" altLang="en-US" sz="1500">
                          <a:sym typeface="+mn-ea"/>
                        </a:rPr>
                        <a:t>This makes direct comparison difficult.</a:t>
                      </a:r>
                      <a:endParaRPr lang="en-US" altLang="en-US" sz="1500"/>
                    </a:p>
                    <a:p>
                      <a:pPr>
                        <a:buNone/>
                      </a:pPr>
                      <a:endParaRPr lang="en-US" altLang="en-US" sz="1500"/>
                    </a:p>
                  </a:txBody>
                  <a:tcPr/>
                </a:tc>
              </a:tr>
              <a:tr h="1148715">
                <a:tc>
                  <a:txBody>
                    <a:bodyPr/>
                    <a:p>
                      <a:pPr>
                        <a:buNone/>
                      </a:pPr>
                      <a:r>
                        <a:rPr lang="en-US" altLang="en-US" sz="1500"/>
                        <a:t>AI-Driven Approaches to Diabetes Prediction(2025)</a:t>
                      </a:r>
                      <a:endParaRPr lang="en-US" altLang="en-US" sz="1500"/>
                    </a:p>
                  </a:txBody>
                  <a:tcPr/>
                </a:tc>
                <a:tc>
                  <a:txBody>
                    <a:bodyPr/>
                    <a:p>
                      <a:pPr>
                        <a:buNone/>
                      </a:pPr>
                      <a:r>
                        <a:rPr lang="en-US" altLang="en-US" sz="1500">
                          <a:sym typeface="+mn-ea"/>
                        </a:rPr>
                        <a:t>Springer – Artificial Intelligence Review</a:t>
                      </a:r>
                      <a:endParaRPr lang="en-US" altLang="en-US" sz="1500"/>
                    </a:p>
                    <a:p>
                      <a:pPr>
                        <a:buNone/>
                      </a:pPr>
                      <a:endParaRPr lang="en-US" altLang="en-US" sz="1500"/>
                    </a:p>
                  </a:txBody>
                  <a:tcPr/>
                </a:tc>
                <a:tc>
                  <a:txBody>
                    <a:bodyPr/>
                    <a:p>
                      <a:pPr>
                        <a:buNone/>
                      </a:pPr>
                      <a:r>
                        <a:rPr lang="en-US" altLang="en-US" sz="1500"/>
                        <a:t>Reviews AI/ML for diabetes prediction.</a:t>
                      </a:r>
                      <a:endParaRPr lang="en-US" altLang="en-US" sz="1500"/>
                    </a:p>
                  </a:txBody>
                  <a:tcPr/>
                </a:tc>
                <a:tc>
                  <a:txBody>
                    <a:bodyPr/>
                    <a:p>
                      <a:pPr>
                        <a:buNone/>
                      </a:pPr>
                      <a:r>
                        <a:rPr lang="en-US" altLang="en-US" sz="1500">
                          <a:sym typeface="+mn-ea"/>
                        </a:rPr>
                        <a:t>Some studies face data imbalance problems.</a:t>
                      </a:r>
                      <a:endParaRPr lang="en-US" altLang="en-US" sz="1500"/>
                    </a:p>
                    <a:p>
                      <a:pPr>
                        <a:buNone/>
                      </a:pPr>
                      <a:r>
                        <a:rPr lang="en-US" altLang="en-US" sz="1500">
                          <a:sym typeface="+mn-ea"/>
                        </a:rPr>
                        <a:t>Model performance may vary across different populations.</a:t>
                      </a:r>
                      <a:endParaRPr lang="en-US" altLang="en-US" sz="1500"/>
                    </a:p>
                    <a:p>
                      <a:pPr>
                        <a:buNone/>
                      </a:pPr>
                      <a:endParaRPr lang="en-US" altLang="en-US" sz="1500"/>
                    </a:p>
                  </a:txBody>
                  <a:tcPr/>
                </a:tc>
              </a:tr>
              <a:tr h="1005840">
                <a:tc>
                  <a:txBody>
                    <a:bodyPr/>
                    <a:p>
                      <a:pPr>
                        <a:buNone/>
                      </a:pPr>
                      <a:r>
                        <a:rPr lang="en-US" altLang="en-US" sz="1500"/>
                        <a:t>A Systematic Review on LIME and SHAP in Alzheimer’s Disease Detection(2025)</a:t>
                      </a:r>
                      <a:endParaRPr lang="en-US" altLang="en-US" sz="1500"/>
                    </a:p>
                  </a:txBody>
                  <a:tcPr/>
                </a:tc>
                <a:tc>
                  <a:txBody>
                    <a:bodyPr/>
                    <a:p>
                      <a:pPr>
                        <a:buNone/>
                      </a:pPr>
                      <a:r>
                        <a:rPr lang="en-US" altLang="en-US" sz="1500"/>
                        <a:t>Springer – Brain Informatics</a:t>
                      </a:r>
                      <a:endParaRPr lang="en-US" altLang="en-US" sz="1500"/>
                    </a:p>
                  </a:txBody>
                  <a:tcPr/>
                </a:tc>
                <a:tc>
                  <a:txBody>
                    <a:bodyPr/>
                    <a:p>
                      <a:r>
                        <a:rPr lang="en-US" sz="1500"/>
                        <a:t>Reviews LIME and SHAP for interpreting Alzheimers disease prediction</a:t>
                      </a:r>
                      <a:endParaRPr lang="en-US" sz="1500"/>
                    </a:p>
                  </a:txBody>
                  <a:tcPr marL="0" marR="0" marT="0" marB="0" anchor="ctr" anchorCtr="0"/>
                </a:tc>
                <a:tc>
                  <a:txBody>
                    <a:bodyPr/>
                    <a:p>
                      <a:pPr>
                        <a:buNone/>
                      </a:pPr>
                      <a:r>
                        <a:rPr lang="en-US" altLang="en-US" sz="1500"/>
                        <a:t>The study focuses mainly on Alzheimer’s disease.</a:t>
                      </a:r>
                      <a:endParaRPr lang="en-US" altLang="en-US" sz="1500"/>
                    </a:p>
                    <a:p>
                      <a:pPr>
                        <a:buNone/>
                      </a:pPr>
                      <a:r>
                        <a:rPr lang="en-US" altLang="en-US" sz="1500"/>
                        <a:t>The approach may need testing on other diseases.</a:t>
                      </a:r>
                      <a:endParaRPr lang="en-US" altLang="en-US" sz="1500"/>
                    </a:p>
                  </a:txBody>
                  <a:tcPr/>
                </a:tc>
              </a:tr>
            </a:tbl>
          </a:graphicData>
        </a:graphic>
      </p:graphicFrame>
      <p:sp>
        <p:nvSpPr>
          <p:cNvPr id="16" name="Text Box 15"/>
          <p:cNvSpPr txBox="1"/>
          <p:nvPr/>
        </p:nvSpPr>
        <p:spPr>
          <a:xfrm>
            <a:off x="0" y="83185"/>
            <a:ext cx="7226300" cy="460375"/>
          </a:xfrm>
          <a:prstGeom prst="rect">
            <a:avLst/>
          </a:prstGeom>
          <a:noFill/>
        </p:spPr>
        <p:txBody>
          <a:bodyPr wrap="square" rtlCol="0">
            <a:spAutoFit/>
          </a:bodyPr>
          <a:p>
            <a:r>
              <a:rPr sz="2400" b="1" dirty="0">
                <a:sym typeface="+mn-ea"/>
              </a:rPr>
              <a:t>Literature Survey – Papers</a:t>
            </a:r>
            <a:endParaRPr 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 name="Table 7"/>
          <p:cNvGraphicFramePr/>
          <p:nvPr/>
        </p:nvGraphicFramePr>
        <p:xfrm>
          <a:off x="260350" y="829945"/>
          <a:ext cx="11690350" cy="5951220"/>
        </p:xfrm>
        <a:graphic>
          <a:graphicData uri="http://schemas.openxmlformats.org/drawingml/2006/table">
            <a:tbl>
              <a:tblPr firstRow="1" bandRow="1">
                <a:tableStyleId>{5C22544A-7EE6-4342-B048-85BDC9FD1C3A}</a:tableStyleId>
              </a:tblPr>
              <a:tblGrid>
                <a:gridCol w="3403600"/>
                <a:gridCol w="2762250"/>
                <a:gridCol w="2762250"/>
                <a:gridCol w="2762250"/>
              </a:tblGrid>
              <a:tr h="693420">
                <a:tc>
                  <a:txBody>
                    <a:bodyPr/>
                    <a:p>
                      <a:r>
                        <a:rPr lang="en-US" sz="1100"/>
                        <a:t>     </a:t>
                      </a:r>
                      <a:r>
                        <a:rPr lang="en-US" sz="1800"/>
                        <a:t>     </a:t>
                      </a:r>
                      <a:endParaRPr lang="en-US" sz="1800"/>
                    </a:p>
                    <a:p>
                      <a:r>
                        <a:rPr lang="en-US" sz="1800"/>
                        <a:t>         paper</a:t>
                      </a:r>
                      <a:endParaRPr lang="en-US" sz="1800"/>
                    </a:p>
                  </a:txBody>
                  <a:tcPr marL="0" marR="0" marT="0" marB="0" anchor="ctr" anchorCtr="0"/>
                </a:tc>
                <a:tc>
                  <a:txBody>
                    <a:bodyPr/>
                    <a:p>
                      <a:pPr>
                        <a:buNone/>
                      </a:pPr>
                      <a:r>
                        <a:rPr lang="en-US"/>
                        <a:t> </a:t>
                      </a:r>
                      <a:endParaRPr lang="en-US"/>
                    </a:p>
                    <a:p>
                      <a:pPr>
                        <a:buNone/>
                      </a:pPr>
                      <a:r>
                        <a:rPr lang="en-US"/>
                        <a:t>publication</a:t>
                      </a:r>
                      <a:endParaRPr lang="en-US"/>
                    </a:p>
                  </a:txBody>
                  <a:tcPr/>
                </a:tc>
                <a:tc>
                  <a:txBody>
                    <a:bodyPr/>
                    <a:p>
                      <a:pPr>
                        <a:buNone/>
                      </a:pPr>
                      <a:r>
                        <a:rPr lang="en-US"/>
                        <a:t> </a:t>
                      </a:r>
                      <a:endParaRPr lang="en-US"/>
                    </a:p>
                    <a:p>
                      <a:pPr>
                        <a:buNone/>
                      </a:pPr>
                      <a:r>
                        <a:rPr lang="en-US"/>
                        <a:t>key contribution</a:t>
                      </a:r>
                      <a:endParaRPr lang="en-US"/>
                    </a:p>
                  </a:txBody>
                  <a:tcPr/>
                </a:tc>
                <a:tc>
                  <a:txBody>
                    <a:bodyPr/>
                    <a:p>
                      <a:pPr>
                        <a:buNone/>
                      </a:pPr>
                      <a:endParaRPr lang="en-US"/>
                    </a:p>
                    <a:p>
                      <a:pPr>
                        <a:buNone/>
                      </a:pPr>
                      <a:r>
                        <a:rPr lang="en-US"/>
                        <a:t>limitations</a:t>
                      </a:r>
                      <a:endParaRPr lang="en-US"/>
                    </a:p>
                  </a:txBody>
                  <a:tcPr/>
                </a:tc>
              </a:tr>
              <a:tr h="1005840">
                <a:tc>
                  <a:txBody>
                    <a:bodyPr/>
                    <a:p>
                      <a:pPr>
                        <a:buNone/>
                      </a:pPr>
                      <a:r>
                        <a:rPr lang="en-US" altLang="en-US" sz="1500"/>
                        <a:t>Towards Explainability in Artificial Intelligence Frameworks for Heartcare(2024)</a:t>
                      </a:r>
                      <a:endParaRPr lang="en-US" altLang="en-US" sz="1500"/>
                    </a:p>
                  </a:txBody>
                  <a:tcPr/>
                </a:tc>
                <a:tc>
                  <a:txBody>
                    <a:bodyPr/>
                    <a:p>
                      <a:pPr>
                        <a:buNone/>
                      </a:pPr>
                      <a:r>
                        <a:rPr lang="en-US" altLang="en-US" sz="1600"/>
                        <a:t>Springer</a:t>
                      </a:r>
                      <a:endParaRPr lang="en-US" altLang="en-US" sz="1600"/>
                    </a:p>
                  </a:txBody>
                  <a:tcPr/>
                </a:tc>
                <a:tc>
                  <a:txBody>
                    <a:bodyPr/>
                    <a:p>
                      <a:pPr>
                        <a:buNone/>
                      </a:pPr>
                      <a:r>
                        <a:rPr lang="en-US" altLang="en-US" sz="1600"/>
                        <a:t>Reviews SHAP, LIME and XAI methods for heart-disease prediction.</a:t>
                      </a:r>
                      <a:endParaRPr lang="en-US" altLang="en-US" sz="1600"/>
                    </a:p>
                  </a:txBody>
                  <a:tcPr/>
                </a:tc>
                <a:tc>
                  <a:txBody>
                    <a:bodyPr/>
                    <a:p>
                      <a:pPr>
                        <a:buNone/>
                      </a:pPr>
                      <a:r>
                        <a:rPr lang="en-US" altLang="en-US" sz="1500"/>
                        <a:t>Mainly focuses on heartcare applications.</a:t>
                      </a:r>
                      <a:endParaRPr lang="en-US" altLang="en-US" sz="1500"/>
                    </a:p>
                    <a:p>
                      <a:pPr>
                        <a:buNone/>
                      </a:pPr>
                      <a:r>
                        <a:rPr lang="en-US" altLang="en-US" sz="1500"/>
                        <a:t>Broader healthcare validation is needed.</a:t>
                      </a:r>
                      <a:endParaRPr lang="en-US" altLang="en-US" sz="1500"/>
                    </a:p>
                  </a:txBody>
                  <a:tcPr/>
                </a:tc>
              </a:tr>
              <a:tr h="1005840">
                <a:tc>
                  <a:txBody>
                    <a:bodyPr/>
                    <a:p>
                      <a:pPr>
                        <a:buNone/>
                      </a:pPr>
                      <a:r>
                        <a:rPr lang="en-US" altLang="en-US" sz="1500"/>
                        <a:t>Explainable AI in Health Informatics(2024)</a:t>
                      </a:r>
                      <a:endParaRPr lang="en-US" altLang="en-US" sz="1500"/>
                    </a:p>
                  </a:txBody>
                  <a:tcPr/>
                </a:tc>
                <a:tc>
                  <a:txBody>
                    <a:bodyPr/>
                    <a:p>
                      <a:pPr>
                        <a:buNone/>
                      </a:pPr>
                      <a:r>
                        <a:rPr lang="en-US" altLang="en-US" sz="1600"/>
                        <a:t>Springer</a:t>
                      </a:r>
                      <a:endParaRPr lang="en-US" altLang="en-US" sz="1600"/>
                    </a:p>
                  </a:txBody>
                  <a:tcPr/>
                </a:tc>
                <a:tc>
                  <a:txBody>
                    <a:bodyPr/>
                    <a:p>
                      <a:pPr>
                        <a:buNone/>
                      </a:pPr>
                      <a:r>
                        <a:rPr lang="en-US" altLang="en-US" sz="1600"/>
                        <a:t>Explains XAI methods for transparent healthcare decision-making</a:t>
                      </a:r>
                      <a:endParaRPr lang="en-US" altLang="en-US" sz="1600"/>
                    </a:p>
                  </a:txBody>
                  <a:tcPr/>
                </a:tc>
                <a:tc>
                  <a:txBody>
                    <a:bodyPr/>
                    <a:p>
                      <a:pPr>
                        <a:buNone/>
                      </a:pPr>
                      <a:r>
                        <a:rPr lang="en-US" altLang="en-US" sz="1500"/>
                        <a:t>Covers many XAI methods but has limited practical evaluation.</a:t>
                      </a:r>
                      <a:endParaRPr lang="en-US" altLang="en-US" sz="1500"/>
                    </a:p>
                    <a:p>
                      <a:pPr>
                        <a:buNone/>
                      </a:pPr>
                      <a:r>
                        <a:rPr lang="en-US" altLang="en-US" sz="1500"/>
                        <a:t>Real-world implementation needs further study.</a:t>
                      </a:r>
                      <a:endParaRPr lang="en-US" altLang="en-US" sz="1500"/>
                    </a:p>
                  </a:txBody>
                  <a:tcPr/>
                </a:tc>
              </a:tr>
              <a:tr h="1234440">
                <a:tc>
                  <a:txBody>
                    <a:bodyPr/>
                    <a:p>
                      <a:pPr>
                        <a:buNone/>
                      </a:pPr>
                      <a:r>
                        <a:rPr lang="en-US" altLang="en-US" sz="1500"/>
                        <a:t>An Explainable AI Framework for Artificial Intelligence of Medical Things(2024)</a:t>
                      </a:r>
                      <a:endParaRPr lang="en-US" altLang="en-US" sz="1500"/>
                    </a:p>
                  </a:txBody>
                  <a:tcPr/>
                </a:tc>
                <a:tc>
                  <a:txBody>
                    <a:bodyPr/>
                    <a:p>
                      <a:pPr>
                        <a:buNone/>
                      </a:pPr>
                      <a:r>
                        <a:rPr lang="en-US" altLang="en-US" sz="1600"/>
                        <a:t>AI/Medical Research</a:t>
                      </a:r>
                      <a:endParaRPr lang="en-US" altLang="en-US" sz="1600"/>
                    </a:p>
                  </a:txBody>
                  <a:tcPr/>
                </a:tc>
                <a:tc>
                  <a:txBody>
                    <a:bodyPr/>
                    <a:p>
                      <a:pPr>
                        <a:buNone/>
                      </a:pPr>
                      <a:r>
                        <a:rPr lang="en-US" altLang="en-US" sz="1600"/>
                        <a:t>Combines LIME, SHAP and Grad-CAM for medical prediction.</a:t>
                      </a:r>
                      <a:endParaRPr lang="en-US" altLang="en-US" sz="1600"/>
                    </a:p>
                  </a:txBody>
                  <a:tcPr/>
                </a:tc>
                <a:tc>
                  <a:txBody>
                    <a:bodyPr/>
                    <a:p>
                      <a:pPr>
                        <a:buNone/>
                      </a:pPr>
                      <a:r>
                        <a:rPr lang="en-US" altLang="en-US" sz="1500"/>
                        <a:t>Focuses on specific medical applications.</a:t>
                      </a:r>
                      <a:endParaRPr lang="en-US" altLang="en-US" sz="1500"/>
                    </a:p>
                    <a:p>
                      <a:pPr>
                        <a:buNone/>
                      </a:pPr>
                      <a:r>
                        <a:rPr lang="en-US" altLang="en-US" sz="1500"/>
                        <a:t>Generalization to other healthcare datasets needs testing</a:t>
                      </a:r>
                      <a:endParaRPr lang="en-US" altLang="en-US" sz="1500"/>
                    </a:p>
                  </a:txBody>
                  <a:tcPr/>
                </a:tc>
              </a:tr>
              <a:tr h="1005840">
                <a:tc>
                  <a:txBody>
                    <a:bodyPr/>
                    <a:p>
                      <a:pPr>
                        <a:buNone/>
                      </a:pPr>
                      <a:r>
                        <a:rPr lang="en-US" altLang="en-US" sz="1500"/>
                        <a:t>Enhancing Histopathological Medical Image Classification Using Deep Learning and XAI(2024)</a:t>
                      </a:r>
                      <a:endParaRPr lang="en-US" altLang="en-US" sz="1500"/>
                    </a:p>
                  </a:txBody>
                  <a:tcPr/>
                </a:tc>
                <a:tc>
                  <a:txBody>
                    <a:bodyPr/>
                    <a:p>
                      <a:pPr>
                        <a:buNone/>
                      </a:pPr>
                      <a:r>
                        <a:rPr lang="en-US" altLang="en-US" sz="1600"/>
                        <a:t>Biomedical Signal Processing and Control</a:t>
                      </a:r>
                      <a:endParaRPr lang="en-US" altLang="en-US" sz="1600"/>
                    </a:p>
                  </a:txBody>
                  <a:tcPr/>
                </a:tc>
                <a:tc>
                  <a:txBody>
                    <a:bodyPr/>
                    <a:p>
                      <a:pPr>
                        <a:buNone/>
                      </a:pPr>
                      <a:r>
                        <a:rPr lang="en-US" altLang="en-US" sz="1600"/>
                        <a:t>Uses Deep Learning, LIME and SHAP for cancer diagnosis.</a:t>
                      </a:r>
                      <a:endParaRPr lang="en-US" altLang="en-US" sz="1600"/>
                    </a:p>
                  </a:txBody>
                  <a:tcPr/>
                </a:tc>
                <a:tc>
                  <a:txBody>
                    <a:bodyPr/>
                    <a:p>
                      <a:pPr>
                        <a:buNone/>
                      </a:pPr>
                      <a:r>
                        <a:rPr lang="en-US" altLang="en-US" sz="1500"/>
                        <a:t>Mainly focuses on medical images and cancer diagnosis.</a:t>
                      </a:r>
                      <a:endParaRPr lang="en-US" altLang="en-US" sz="1500"/>
                    </a:p>
                    <a:p>
                      <a:pPr>
                        <a:buNone/>
                      </a:pPr>
                      <a:r>
                        <a:rPr lang="en-US" altLang="en-US" sz="1500"/>
                        <a:t>Applicability to other healthcare data is limited.</a:t>
                      </a:r>
                      <a:endParaRPr lang="en-US" altLang="en-US" sz="1500"/>
                    </a:p>
                  </a:txBody>
                  <a:tcPr/>
                </a:tc>
              </a:tr>
              <a:tr h="1005840">
                <a:tc>
                  <a:txBody>
                    <a:bodyPr/>
                    <a:p>
                      <a:pPr>
                        <a:buNone/>
                      </a:pPr>
                      <a:r>
                        <a:rPr lang="en-US" altLang="en-US" sz="1500"/>
                        <a:t>Transparent AI: Explainable Interface for Predicting Postoperative Complications(2024)</a:t>
                      </a:r>
                      <a:endParaRPr lang="en-US" altLang="en-US" sz="1500"/>
                    </a:p>
                  </a:txBody>
                  <a:tcPr/>
                </a:tc>
                <a:tc>
                  <a:txBody>
                    <a:bodyPr/>
                    <a:p>
                      <a:pPr>
                        <a:buNone/>
                      </a:pPr>
                      <a:r>
                        <a:rPr lang="en-US" altLang="en-US" sz="1600"/>
                        <a:t>Healthcare AI Research</a:t>
                      </a:r>
                      <a:endParaRPr lang="en-US" altLang="en-US" sz="1600"/>
                    </a:p>
                  </a:txBody>
                  <a:tcPr/>
                </a:tc>
                <a:tc>
                  <a:txBody>
                    <a:bodyPr/>
                    <a:p>
                      <a:r>
                        <a:rPr lang="en-US" altLang="en-US" sz="1500"/>
                        <a:t>Uses SHAP, LIME and counterfactual explanations for risk prediction.</a:t>
                      </a:r>
                      <a:endParaRPr lang="en-US" altLang="en-US" sz="1500"/>
                    </a:p>
                  </a:txBody>
                  <a:tcPr marL="0" marR="0" marT="0" marB="0" anchor="ctr" anchorCtr="0"/>
                </a:tc>
                <a:tc>
                  <a:txBody>
                    <a:bodyPr/>
                    <a:p>
                      <a:pPr>
                        <a:buNone/>
                      </a:pPr>
                      <a:r>
                        <a:rPr lang="en-US" altLang="en-US" sz="1500"/>
                        <a:t>Focuses on postoperative risk prediction.</a:t>
                      </a:r>
                      <a:endParaRPr lang="en-US" altLang="en-US" sz="1500"/>
                    </a:p>
                    <a:p>
                      <a:pPr>
                        <a:buNone/>
                      </a:pPr>
                      <a:r>
                        <a:rPr lang="en-US" altLang="en-US" sz="1500"/>
                        <a:t>Wider clinical validation is required.</a:t>
                      </a:r>
                      <a:endParaRPr lang="en-US" altLang="en-US" sz="1500"/>
                    </a:p>
                  </a:txBody>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192000" cy="1061884"/>
          </a:xfrm>
        </p:spPr>
        <p:txBody>
          <a:bodyPr/>
          <a:lstStyle/>
          <a:p>
            <a:endParaRPr lang="en-IN" dirty="0"/>
          </a:p>
        </p:txBody>
      </p:sp>
      <p:pic>
        <p:nvPicPr>
          <p:cNvPr id="4" name="Picture 3"/>
          <p:cNvPicPr>
            <a:picLocks noChangeAspect="1"/>
          </p:cNvPicPr>
          <p:nvPr/>
        </p:nvPicPr>
        <p:blipFill>
          <a:blip r:embed="rId1"/>
          <a:stretch>
            <a:fillRect/>
          </a:stretch>
        </p:blipFill>
        <p:spPr>
          <a:xfrm>
            <a:off x="0" y="1"/>
            <a:ext cx="12192000" cy="1209367"/>
          </a:xfrm>
          <a:prstGeom prst="rect">
            <a:avLst/>
          </a:prstGeom>
        </p:spPr>
      </p:pic>
      <p:sp>
        <p:nvSpPr>
          <p:cNvPr id="7" name="TextBox 6"/>
          <p:cNvSpPr txBox="1"/>
          <p:nvPr/>
        </p:nvSpPr>
        <p:spPr>
          <a:xfrm>
            <a:off x="275303" y="1445342"/>
            <a:ext cx="11464413" cy="5292725"/>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Research Gaps Identification:</a:t>
            </a:r>
            <a:endParaRPr lang="en-IN"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pPr lvl="0"/>
            <a:r>
              <a:rPr lang="en-US" altLang="en-US" sz="2800" b="1" dirty="0">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cs typeface="Times New Roman" panose="02020603050405020304" pitchFamily="18" charset="0"/>
              </a:rPr>
              <a:t> No universally best model: ML performance can vary depending on the healthcare dataset and disease.</a:t>
            </a:r>
            <a:endParaRPr lang="en-US" altLang="en-US" sz="2000" dirty="0">
              <a:latin typeface="Times New Roman" panose="02020603050405020304" pitchFamily="18" charset="0"/>
              <a:cs typeface="Times New Roman" panose="02020603050405020304" pitchFamily="18" charset="0"/>
            </a:endParaRPr>
          </a:p>
          <a:p>
            <a:pPr lvl="0"/>
            <a:endParaRPr lang="en-US" altLang="en-US" sz="2000" dirty="0">
              <a:latin typeface="Times New Roman" panose="02020603050405020304" pitchFamily="18" charset="0"/>
              <a:cs typeface="Times New Roman" panose="02020603050405020304" pitchFamily="18" charset="0"/>
            </a:endParaRPr>
          </a:p>
          <a:p>
            <a:pPr lvl="0"/>
            <a:r>
              <a:rPr lang="en-US" altLang="en-US" sz="28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Limited model comparison: Many studies focus on a single disease or ML model rather than comparing multiple models.</a:t>
            </a:r>
            <a:endParaRPr lang="en-US" altLang="en-US" sz="2000" dirty="0">
              <a:latin typeface="Times New Roman" panose="02020603050405020304" pitchFamily="18" charset="0"/>
              <a:cs typeface="Times New Roman" panose="02020603050405020304" pitchFamily="18" charset="0"/>
            </a:endParaRPr>
          </a:p>
          <a:p>
            <a:pPr lvl="0"/>
            <a:endParaRPr lang="en-US" altLang="en-US" sz="2000" dirty="0">
              <a:latin typeface="Times New Roman" panose="02020603050405020304" pitchFamily="18" charset="0"/>
              <a:cs typeface="Times New Roman" panose="02020603050405020304" pitchFamily="18" charset="0"/>
            </a:endParaRPr>
          </a:p>
          <a:p>
            <a:pPr lvl="0"/>
            <a:r>
              <a:rPr lang="en-US" altLang="en-US" sz="2800" b="1" dirty="0">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cs typeface="Times New Roman" panose="02020603050405020304" pitchFamily="18" charset="0"/>
              </a:rPr>
              <a:t> Limited explainability: Prediction accuracy and explainability are not always evaluated together.</a:t>
            </a:r>
            <a:endParaRPr lang="en-US" altLang="en-US" sz="2000" dirty="0">
              <a:latin typeface="Times New Roman" panose="02020603050405020304" pitchFamily="18" charset="0"/>
              <a:cs typeface="Times New Roman" panose="02020603050405020304" pitchFamily="18" charset="0"/>
            </a:endParaRPr>
          </a:p>
          <a:p>
            <a:pPr lvl="0"/>
            <a:endParaRPr lang="en-US" altLang="en-US" sz="2000" dirty="0">
              <a:latin typeface="Times New Roman" panose="02020603050405020304" pitchFamily="18" charset="0"/>
              <a:cs typeface="Times New Roman" panose="02020603050405020304" pitchFamily="18" charset="0"/>
            </a:endParaRPr>
          </a:p>
          <a:p>
            <a:pPr lvl="0"/>
            <a:r>
              <a:rPr lang="en-US" altLang="en-US" sz="2800" b="1" dirty="0">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cs typeface="Times New Roman" panose="02020603050405020304" pitchFamily="18" charset="0"/>
              </a:rPr>
              <a:t> Limited integration: Few studies combine ML + XAI + healthcare visualization in one framework.</a:t>
            </a:r>
            <a:endParaRPr lang="en-US" altLang="en-US" sz="2000" dirty="0">
              <a:latin typeface="Times New Roman" panose="02020603050405020304" pitchFamily="18" charset="0"/>
              <a:cs typeface="Times New Roman" panose="02020603050405020304" pitchFamily="18" charset="0"/>
            </a:endParaRPr>
          </a:p>
          <a:p>
            <a:pPr lvl="0"/>
            <a:endParaRPr lang="en-US" altLang="en-US" sz="2000" dirty="0">
              <a:latin typeface="Times New Roman" panose="02020603050405020304" pitchFamily="18" charset="0"/>
              <a:cs typeface="Times New Roman" panose="02020603050405020304" pitchFamily="18" charset="0"/>
            </a:endParaRPr>
          </a:p>
          <a:p>
            <a:pPr lvl="0"/>
            <a:r>
              <a:rPr lang="en-US" altLang="en-US" sz="28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Need for understandable insights: Healthcare users need clear predictions, important risk factors, and visual insights for better decision-making.</a:t>
            </a:r>
            <a:endParaRPr lang="en-US" altLang="en-US" sz="2000"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192000" cy="1061884"/>
          </a:xfrm>
        </p:spPr>
        <p:txBody>
          <a:bodyPr/>
          <a:lstStyle/>
          <a:p>
            <a:endParaRPr lang="en-IN" dirty="0"/>
          </a:p>
        </p:txBody>
      </p:sp>
      <p:pic>
        <p:nvPicPr>
          <p:cNvPr id="4" name="Picture 3"/>
          <p:cNvPicPr>
            <a:picLocks noChangeAspect="1"/>
          </p:cNvPicPr>
          <p:nvPr/>
        </p:nvPicPr>
        <p:blipFill>
          <a:blip r:embed="rId1"/>
          <a:stretch>
            <a:fillRect/>
          </a:stretch>
        </p:blipFill>
        <p:spPr>
          <a:xfrm>
            <a:off x="0" y="1"/>
            <a:ext cx="12192000" cy="1209367"/>
          </a:xfrm>
          <a:prstGeom prst="rect">
            <a:avLst/>
          </a:prstGeom>
        </p:spPr>
      </p:pic>
      <p:sp>
        <p:nvSpPr>
          <p:cNvPr id="3" name="TextBox 2"/>
          <p:cNvSpPr txBox="1"/>
          <p:nvPr/>
        </p:nvSpPr>
        <p:spPr>
          <a:xfrm>
            <a:off x="429768" y="1810512"/>
            <a:ext cx="11250956" cy="4399915"/>
          </a:xfrm>
          <a:prstGeom prst="rect">
            <a:avLst/>
          </a:prstGeom>
          <a:noFill/>
        </p:spPr>
        <p:txBody>
          <a:bodyPr wrap="square" rtlCol="0">
            <a:spAutoFit/>
          </a:bodyPr>
          <a:lstStyle/>
          <a:p>
            <a:r>
              <a:rPr lang="en-US" altLang="en-US" sz="2000" b="1" dirty="0"/>
              <a:t>Proposed Research Gap &amp; Innovation</a:t>
            </a:r>
            <a:endParaRPr lang="en-US" altLang="en-US" sz="2000" b="1" dirty="0"/>
          </a:p>
          <a:p>
            <a:endParaRPr lang="en-US" altLang="en-US" sz="2000" dirty="0"/>
          </a:p>
          <a:p>
            <a:r>
              <a:rPr lang="en-US" altLang="en-US" sz="2000" b="1" dirty="0"/>
              <a:t>Research Gap</a:t>
            </a:r>
            <a:endParaRPr lang="en-US" altLang="en-US" sz="2000" b="1" dirty="0"/>
          </a:p>
          <a:p>
            <a:endParaRPr lang="en-US" altLang="en-US" sz="2000" dirty="0"/>
          </a:p>
          <a:p>
            <a:r>
              <a:rPr lang="en-US" altLang="en-US" sz="2000" dirty="0"/>
              <a:t>Existing healthcare studies have limited combined evaluation of multiple ML models and XAI techniques across benchmark healthcare datasets, along with interactive visualization for understandable healthcare decision-making.</a:t>
            </a:r>
            <a:endParaRPr lang="en-US" altLang="en-US" sz="2000" dirty="0"/>
          </a:p>
          <a:p>
            <a:endParaRPr lang="en-US" altLang="en-US" sz="2000" dirty="0"/>
          </a:p>
          <a:p>
            <a:r>
              <a:rPr lang="en-US" altLang="en-US" sz="2000" b="1" dirty="0"/>
              <a:t>Innovation:</a:t>
            </a:r>
            <a:endParaRPr lang="en-US" altLang="en-US" sz="2000" b="1" dirty="0"/>
          </a:p>
          <a:p>
            <a:endParaRPr lang="en-US" altLang="en-US" sz="2000" dirty="0"/>
          </a:p>
          <a:p>
            <a:r>
              <a:rPr lang="en-US" altLang="en-US" sz="2000" dirty="0"/>
              <a:t>Compare multiple ML models using benchmark healthcare datasets.</a:t>
            </a:r>
            <a:endParaRPr lang="en-US" altLang="en-US" sz="2000" dirty="0"/>
          </a:p>
          <a:p>
            <a:r>
              <a:rPr lang="en-US" altLang="en-US" sz="2000" dirty="0"/>
              <a:t>Use SHAP and LIME to identify important factors behind disease predictions.</a:t>
            </a:r>
            <a:endParaRPr lang="en-US" altLang="en-US" sz="2000" dirty="0"/>
          </a:p>
          <a:p>
            <a:r>
              <a:rPr lang="en-US" altLang="en-US" sz="2000" dirty="0"/>
              <a:t>Combine prediction, explainability, and visualization in one framework.</a:t>
            </a:r>
            <a:endParaRPr lang="en-US" altLang="en-US" sz="2000" dirty="0"/>
          </a:p>
          <a:p>
            <a:r>
              <a:rPr lang="en-US" altLang="en-US" sz="2000" dirty="0"/>
              <a:t>Develop an interactive Business Intelligence Dashboard for clear healthcare insights.</a:t>
            </a:r>
            <a:endParaRPr lang="en-US" alt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192000" cy="1061884"/>
          </a:xfrm>
        </p:spPr>
        <p:txBody>
          <a:bodyPr/>
          <a:lstStyle/>
          <a:p>
            <a:endParaRPr lang="en-IN" dirty="0"/>
          </a:p>
        </p:txBody>
      </p:sp>
      <p:pic>
        <p:nvPicPr>
          <p:cNvPr id="4" name="Picture 3"/>
          <p:cNvPicPr>
            <a:picLocks noChangeAspect="1"/>
          </p:cNvPicPr>
          <p:nvPr/>
        </p:nvPicPr>
        <p:blipFill>
          <a:blip r:embed="rId1"/>
          <a:stretch>
            <a:fillRect/>
          </a:stretch>
        </p:blipFill>
        <p:spPr>
          <a:xfrm>
            <a:off x="0" y="1"/>
            <a:ext cx="12192000" cy="1209367"/>
          </a:xfrm>
          <a:prstGeom prst="rect">
            <a:avLst/>
          </a:prstGeom>
        </p:spPr>
      </p:pic>
      <p:sp>
        <p:nvSpPr>
          <p:cNvPr id="5" name="TextBox 4"/>
          <p:cNvSpPr txBox="1"/>
          <p:nvPr/>
        </p:nvSpPr>
        <p:spPr>
          <a:xfrm>
            <a:off x="371561" y="1209368"/>
            <a:ext cx="11336594" cy="2553335"/>
          </a:xfrm>
          <a:prstGeom prst="rect">
            <a:avLst/>
          </a:prstGeom>
          <a:noFill/>
        </p:spPr>
        <p:txBody>
          <a:bodyPr wrap="square" rtlCol="0">
            <a:spAutoFit/>
          </a:bodyPr>
          <a:lstStyle/>
          <a:p>
            <a:r>
              <a:rPr lang="en-US" altLang="en-US" sz="2000" b="1" dirty="0">
                <a:latin typeface="Times New Roman" panose="02020603050405020304" pitchFamily="18" charset="0"/>
                <a:cs typeface="Times New Roman" panose="02020603050405020304" pitchFamily="18" charset="0"/>
              </a:rPr>
              <a:t> Feasibility</a:t>
            </a:r>
            <a:endParaRPr lang="en-US" altLang="en-US" sz="2000" b="1" dirty="0">
              <a:latin typeface="Times New Roman" panose="02020603050405020304" pitchFamily="18" charset="0"/>
              <a:cs typeface="Times New Roman" panose="02020603050405020304" pitchFamily="18" charset="0"/>
            </a:endParaRPr>
          </a:p>
          <a:p>
            <a:endParaRPr lang="en-US" altLang="en-US" sz="2000" b="1"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Technical Feasibility</a:t>
            </a:r>
            <a:r>
              <a:rPr lang="en-US" altLang="en-US" sz="2000" dirty="0">
                <a:latin typeface="Times New Roman" panose="02020603050405020304" pitchFamily="18" charset="0"/>
                <a:cs typeface="Times New Roman" panose="02020603050405020304" pitchFamily="18" charset="0"/>
              </a:rPr>
              <a:t>: Python, Pandas, Scikit-learn, XGBoost, CatBoost, SHAP, LIME and visualization tools.</a:t>
            </a:r>
            <a:endParaRPr lang="en-US" altLang="en-US" sz="2000"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Data Feasibility:</a:t>
            </a:r>
            <a:r>
              <a:rPr lang="en-US" altLang="en-US" sz="2000" dirty="0">
                <a:latin typeface="Times New Roman" panose="02020603050405020304" pitchFamily="18" charset="0"/>
                <a:cs typeface="Times New Roman" panose="02020603050405020304" pitchFamily="18" charset="0"/>
              </a:rPr>
              <a:t> Public benchmark healthcare datasets are available from UCI and Kaggle.</a:t>
            </a:r>
            <a:endParaRPr lang="en-US" altLang="en-US" sz="2000"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Economic Feasibility</a:t>
            </a:r>
            <a:r>
              <a:rPr lang="en-US" altLang="en-US" sz="2000" dirty="0">
                <a:latin typeface="Times New Roman" panose="02020603050405020304" pitchFamily="18" charset="0"/>
                <a:cs typeface="Times New Roman" panose="02020603050405020304" pitchFamily="18" charset="0"/>
              </a:rPr>
              <a:t>: Open-source tools and public datasets keep the project cost low.</a:t>
            </a:r>
            <a:endParaRPr lang="en-US" altLang="en-US" sz="2000"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Time Feasibility:</a:t>
            </a:r>
            <a:r>
              <a:rPr lang="en-US" altLang="en-US" sz="2000" dirty="0">
                <a:latin typeface="Times New Roman" panose="02020603050405020304" pitchFamily="18" charset="0"/>
                <a:cs typeface="Times New Roman" panose="02020603050405020304" pitchFamily="18" charset="0"/>
              </a:rPr>
              <a:t> Data collection → Preprocessing → EDA → ML models → XAI → Dashboard → Evaluation.</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12192000" cy="1061884"/>
          </a:xfrm>
        </p:spPr>
        <p:txBody>
          <a:bodyPr/>
          <a:lstStyle/>
          <a:p>
            <a:endParaRPr lang="en-IN" dirty="0"/>
          </a:p>
        </p:txBody>
      </p:sp>
      <p:pic>
        <p:nvPicPr>
          <p:cNvPr id="4" name="Picture 3"/>
          <p:cNvPicPr>
            <a:picLocks noChangeAspect="1"/>
          </p:cNvPicPr>
          <p:nvPr/>
        </p:nvPicPr>
        <p:blipFill>
          <a:blip r:embed="rId1"/>
          <a:stretch>
            <a:fillRect/>
          </a:stretch>
        </p:blipFill>
        <p:spPr>
          <a:xfrm>
            <a:off x="0" y="1"/>
            <a:ext cx="12192000" cy="1209367"/>
          </a:xfrm>
          <a:prstGeom prst="rect">
            <a:avLst/>
          </a:prstGeom>
        </p:spPr>
      </p:pic>
      <p:sp>
        <p:nvSpPr>
          <p:cNvPr id="7" name="TextBox 6"/>
          <p:cNvSpPr txBox="1"/>
          <p:nvPr/>
        </p:nvSpPr>
        <p:spPr>
          <a:xfrm>
            <a:off x="383457" y="1209368"/>
            <a:ext cx="11621729" cy="3969385"/>
          </a:xfrm>
          <a:prstGeom prst="rect">
            <a:avLst/>
          </a:prstGeom>
          <a:noFill/>
        </p:spPr>
        <p:txBody>
          <a:bodyPr wrap="square" rtlCol="0">
            <a:spAutoFit/>
          </a:bodyPr>
          <a:lstStyle/>
          <a:p>
            <a:r>
              <a:rPr lang="en-US" altLang="en-US" b="1" dirty="0"/>
              <a:t>Expected Outcome</a:t>
            </a:r>
            <a:endParaRPr lang="en-US" altLang="en-US" b="1" dirty="0"/>
          </a:p>
          <a:p>
            <a:endParaRPr lang="en-US" altLang="en-US" b="1" dirty="0"/>
          </a:p>
          <a:p>
            <a:r>
              <a:rPr lang="en-US" altLang="en-US" b="1" dirty="0"/>
              <a:t>.</a:t>
            </a:r>
            <a:r>
              <a:rPr lang="en-US" altLang="en-US" sz="2000" b="1" dirty="0"/>
              <a:t> </a:t>
            </a:r>
            <a:r>
              <a:rPr lang="en-US" altLang="en-US" sz="2000" dirty="0"/>
              <a:t>Identify important healthcare patterns using EDA and data visualization.</a:t>
            </a:r>
            <a:endParaRPr lang="en-US" altLang="en-US" sz="2000" dirty="0"/>
          </a:p>
          <a:p>
            <a:r>
              <a:rPr lang="en-US" altLang="en-US" sz="2000" b="1" dirty="0"/>
              <a:t> . </a:t>
            </a:r>
            <a:r>
              <a:rPr lang="en-US" altLang="en-US" sz="2000" dirty="0"/>
              <a:t>Predict disease risk using multiple machine learning models.</a:t>
            </a:r>
            <a:endParaRPr lang="en-US" altLang="en-US" sz="2000" dirty="0"/>
          </a:p>
          <a:p>
            <a:r>
              <a:rPr lang="en-US" altLang="en-US" sz="2000" dirty="0"/>
              <a:t> </a:t>
            </a:r>
            <a:r>
              <a:rPr lang="en-US" altLang="en-US" sz="2000" b="1" dirty="0"/>
              <a:t>. </a:t>
            </a:r>
            <a:r>
              <a:rPr lang="en-US" altLang="en-US" sz="2000" dirty="0"/>
              <a:t>Identify the best-performing ML model using Accuracy, Precision, Recall and F1-score.</a:t>
            </a:r>
            <a:endParaRPr lang="en-US" altLang="en-US" sz="2000" dirty="0"/>
          </a:p>
          <a:p>
            <a:r>
              <a:rPr lang="en-US" altLang="en-US" sz="2000" b="1" dirty="0"/>
              <a:t>. </a:t>
            </a:r>
            <a:r>
              <a:rPr lang="en-US" altLang="en-US" sz="2000" dirty="0"/>
              <a:t>Use SHAP and LIME to explain important factors behind predictions.</a:t>
            </a:r>
            <a:endParaRPr lang="en-US" altLang="en-US" sz="2000" dirty="0"/>
          </a:p>
          <a:p>
            <a:r>
              <a:rPr lang="en-US" altLang="en-US" sz="2000" b="1" dirty="0"/>
              <a:t>. </a:t>
            </a:r>
            <a:r>
              <a:rPr lang="en-US" altLang="en-US" sz="2000" dirty="0"/>
              <a:t>Develop an interactive Business Intelligence Dashboard for easy healthcare analysis.</a:t>
            </a:r>
            <a:endParaRPr lang="en-US" altLang="en-US" sz="2000" dirty="0"/>
          </a:p>
          <a:p>
            <a:endParaRPr lang="en-US" altLang="en-US" sz="2000" dirty="0"/>
          </a:p>
          <a:p>
            <a:r>
              <a:rPr lang="en-US" altLang="en-US" b="1" dirty="0"/>
              <a:t>Conclusion</a:t>
            </a:r>
            <a:endParaRPr lang="en-US" altLang="en-US" b="1" dirty="0"/>
          </a:p>
          <a:p>
            <a:endParaRPr lang="en-US" altLang="en-US" b="1" dirty="0"/>
          </a:p>
          <a:p>
            <a:r>
              <a:rPr lang="en-US" altLang="en-US" sz="2000" dirty="0"/>
              <a:t>The project will combine Healthcare Analytics + Machine Learning + Explainable AI + Visualization.</a:t>
            </a:r>
            <a:endParaRPr lang="en-US" altLang="en-US" sz="2000" dirty="0"/>
          </a:p>
          <a:p>
            <a:r>
              <a:rPr lang="en-US" altLang="en-US" sz="2000" dirty="0"/>
              <a:t>It will convert complex healthcare data into simple and understandable insights.</a:t>
            </a:r>
            <a:endParaRPr lang="en-US" altLang="en-US" sz="2000" dirty="0"/>
          </a:p>
          <a:p>
            <a:r>
              <a:rPr lang="en-US" altLang="en-US" sz="2000" dirty="0"/>
              <a:t>The dashboard can support data-driven healthcare decision-making.</a:t>
            </a:r>
            <a:endParaRPr lang="en-US" alt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7533</Words>
  <Application>WPS Presentation</Application>
  <PresentationFormat>Widescreen</PresentationFormat>
  <Paragraphs>228</Paragraphs>
  <Slides>11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Arial</vt:lpstr>
      <vt:lpstr>SimSun</vt:lpstr>
      <vt:lpstr>Wingdings</vt:lpstr>
      <vt:lpstr>Times New Roman</vt:lpstr>
      <vt:lpstr>Calibri Light</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 Kruthi</dc:creator>
  <cp:lastModifiedBy>harshini2006</cp:lastModifiedBy>
  <cp:revision>7</cp:revision>
  <dcterms:created xsi:type="dcterms:W3CDTF">2026-08-11T15:03:00Z</dcterms:created>
  <dcterms:modified xsi:type="dcterms:W3CDTF">2026-08-13T17:23:51Z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4EAA3E5762D54F85859832EAC3BA769E_12</vt:lpwstr>
  </property>
</Properties>
</file>